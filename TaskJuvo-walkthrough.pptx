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 i="0">
                <a:solidFill>
                  <a:srgbClr val="B84325"/>
                </a:solidFill>
                <a:latin typeface="Aptos"/>
              </a:rPr>
              <a:t>TASKJUVO · PRODUCT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8138160" cy="10789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400" b="1" i="0">
                <a:solidFill>
                  <a:srgbClr val="17243B"/>
                </a:solidFill>
                <a:latin typeface="Aptos"/>
              </a:rPr>
              <a:t>From a business need
to a shared outcome.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96312"/>
            <a:ext cx="594360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0">
                <a:solidFill>
                  <a:srgbClr val="5D6A7E"/>
                </a:solidFill>
                <a:latin typeface="Aptos"/>
              </a:rPr>
              <a:t>A visual guide to the clickable prototype and its main navigation path.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246120"/>
            <a:ext cx="107442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3529584"/>
            <a:ext cx="45720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 i="0">
                <a:solidFill>
                  <a:srgbClr val="B84325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3813048"/>
            <a:ext cx="1444752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7243B"/>
                </a:solidFill>
                <a:latin typeface="Aptos"/>
              </a:rPr>
              <a:t>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4078224"/>
            <a:ext cx="1444752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Start with the task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23160" y="3858768"/>
            <a:ext cx="283464" cy="0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609295" y="3858768"/>
            <a:ext cx="97329" cy="50670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2609295" y="3808097"/>
            <a:ext cx="97329" cy="50671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97480" y="3529584"/>
            <a:ext cx="45720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 i="0">
                <a:solidFill>
                  <a:srgbClr val="B84325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813048"/>
            <a:ext cx="1444752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7243B"/>
                </a:solidFill>
                <a:latin typeface="Aptos"/>
              </a:rP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4078224"/>
            <a:ext cx="1444752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Make the outcome clear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78808" y="3858768"/>
            <a:ext cx="283464" cy="0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364943" y="3858768"/>
            <a:ext cx="97329" cy="50670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4364943" y="3808097"/>
            <a:ext cx="97329" cy="50671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53128" y="3529584"/>
            <a:ext cx="45720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 i="0">
                <a:solidFill>
                  <a:srgbClr val="B84325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3813048"/>
            <a:ext cx="1444752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7243B"/>
                </a:solidFill>
                <a:latin typeface="Aptos"/>
              </a:rPr>
              <a:t>Compare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4078224"/>
            <a:ext cx="1444752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Review 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34456" y="3858768"/>
            <a:ext cx="283464" cy="0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120591" y="3858768"/>
            <a:ext cx="97329" cy="50670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6120591" y="3808097"/>
            <a:ext cx="97329" cy="50671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08776" y="3529584"/>
            <a:ext cx="45720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 i="0">
                <a:solidFill>
                  <a:srgbClr val="B84325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8776" y="3813048"/>
            <a:ext cx="1444752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7243B"/>
                </a:solidFill>
                <a:latin typeface="Aptos"/>
              </a:rPr>
              <a:t>Confirm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4078224"/>
            <a:ext cx="1444752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Agree the plan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90104" y="3858768"/>
            <a:ext cx="283464" cy="0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7876239" y="3858768"/>
            <a:ext cx="97329" cy="50670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7876239" y="3808097"/>
            <a:ext cx="97329" cy="50671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964424" y="3529584"/>
            <a:ext cx="45720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 i="0">
                <a:solidFill>
                  <a:srgbClr val="B84325"/>
                </a:solidFill>
                <a:latin typeface="Apto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4424" y="3813048"/>
            <a:ext cx="1444752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7243B"/>
                </a:solidFill>
                <a:latin typeface="Aptos"/>
              </a:rPr>
              <a:t>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64424" y="4078224"/>
            <a:ext cx="1444752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Review progress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45752" y="3858768"/>
            <a:ext cx="283464" cy="0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9631887" y="3858768"/>
            <a:ext cx="97329" cy="50670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9631887" y="3808097"/>
            <a:ext cx="97329" cy="50671"/>
          </a:xfrm>
          <a:prstGeom prst="line">
            <a:avLst/>
          </a:prstGeom>
          <a:ln w="19685">
            <a:solidFill>
              <a:srgbClr val="B843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720072" y="3529584"/>
            <a:ext cx="45720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 i="0">
                <a:solidFill>
                  <a:srgbClr val="B84325"/>
                </a:solidFill>
                <a:latin typeface="Aptos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0072" y="3813048"/>
            <a:ext cx="1444752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7243B"/>
                </a:solidFill>
                <a:latin typeface="Aptos"/>
              </a:rPr>
              <a:t>Reflect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4078224"/>
            <a:ext cx="1444752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Improve the experience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" y="6016752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5D6A7E"/>
                </a:solidFill>
                <a:latin typeface="Aptos"/>
              </a:rPr>
              <a:t>Red outlines and arrows show the recommended navigation sequence.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6016752"/>
            <a:ext cx="12344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100" b="1" i="0">
                <a:solidFill>
                  <a:srgbClr val="B84325"/>
                </a:solidFill>
                <a:latin typeface="Aptos"/>
              </a:rPr>
              <a:t>6-step tour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4630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B84325"/>
                </a:solidFill>
                <a:latin typeface="Aptos"/>
              </a:rPr>
              <a:t>TASKJUVO · WALKTHROUGH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07899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600" b="1" i="0">
                <a:solidFill>
                  <a:srgbClr val="17243B"/>
                </a:solidFill>
                <a:latin typeface="Aptos"/>
              </a:rPr>
              <a:t>Start with a clear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698480" cy="34747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50" b="0" i="0">
                <a:solidFill>
                  <a:srgbClr val="5D6A7E"/>
                </a:solidFill>
                <a:latin typeface="Aptos"/>
              </a:rPr>
              <a:t>The homepage gives the business owner two obvious ways into the flow.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5780" y="1495044"/>
            <a:ext cx="5312664" cy="3496563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skJuvo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36192"/>
            <a:ext cx="5230368" cy="341426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41364" y="1495044"/>
            <a:ext cx="5312664" cy="456079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skJuvo-task-wiz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536192"/>
            <a:ext cx="5230368" cy="447850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80051" y="1590675"/>
            <a:ext cx="526668" cy="199770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6089904"/>
            <a:ext cx="224028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0392" y="6158484"/>
            <a:ext cx="210312" cy="210312"/>
          </a:xfrm>
          <a:prstGeom prst="ellipse">
            <a:avLst/>
          </a:prstGeom>
          <a:solidFill>
            <a:srgbClr val="D63025"/>
          </a:solidFill>
          <a:ln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6164884"/>
            <a:ext cx="2103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" y="6158484"/>
            <a:ext cx="1819656" cy="2103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17243B"/>
                </a:solidFill>
                <a:latin typeface="Aptos"/>
              </a:rPr>
              <a:t>Click the primary CTA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971800" y="1699641"/>
            <a:ext cx="2280666" cy="4563999"/>
          </a:xfrm>
          <a:prstGeom prst="line">
            <a:avLst/>
          </a:prstGeom>
          <a:ln w="2286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52466" y="1699641"/>
            <a:ext cx="1819" cy="109712"/>
          </a:xfrm>
          <a:prstGeom prst="line">
            <a:avLst/>
          </a:prstGeom>
          <a:ln w="2286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163633" y="1699641"/>
            <a:ext cx="88833" cy="64413"/>
          </a:xfrm>
          <a:prstGeom prst="line">
            <a:avLst/>
          </a:prstGeom>
          <a:ln w="2286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850118" y="2037435"/>
            <a:ext cx="617473" cy="243357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0" y="6089904"/>
            <a:ext cx="2487168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56832" y="6158484"/>
            <a:ext cx="210312" cy="210312"/>
          </a:xfrm>
          <a:prstGeom prst="ellipse">
            <a:avLst/>
          </a:prstGeom>
          <a:solidFill>
            <a:srgbClr val="D63025"/>
          </a:solidFill>
          <a:ln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6164884"/>
            <a:ext cx="2103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2" y="6158484"/>
            <a:ext cx="2066544" cy="2103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17243B"/>
                </a:solidFill>
                <a:latin typeface="Aptos"/>
              </a:rPr>
              <a:t>Use the sample or brief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9079992" y="2153665"/>
            <a:ext cx="2078863" cy="4109975"/>
          </a:xfrm>
          <a:prstGeom prst="line">
            <a:avLst/>
          </a:prstGeom>
          <a:ln w="2286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58855" y="2153665"/>
            <a:ext cx="1285" cy="109721"/>
          </a:xfrm>
          <a:prstGeom prst="line">
            <a:avLst/>
          </a:prstGeom>
          <a:ln w="2286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069710" y="2153665"/>
            <a:ext cx="89145" cy="63980"/>
          </a:xfrm>
          <a:prstGeom prst="line">
            <a:avLst/>
          </a:prstGeom>
          <a:ln w="2286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870448" y="3703320"/>
            <a:ext cx="374904" cy="0"/>
          </a:xfrm>
          <a:prstGeom prst="line">
            <a:avLst/>
          </a:prstGeom>
          <a:ln w="3048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148023" y="3703320"/>
            <a:ext cx="97329" cy="50670"/>
          </a:xfrm>
          <a:prstGeom prst="line">
            <a:avLst/>
          </a:prstGeom>
          <a:ln w="3048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6148023" y="3652649"/>
            <a:ext cx="97329" cy="50671"/>
          </a:xfrm>
          <a:prstGeom prst="line">
            <a:avLst/>
          </a:prstGeom>
          <a:ln w="3048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394960" y="3236976"/>
            <a:ext cx="100584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D63025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11430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750" b="1" i="0">
                <a:solidFill>
                  <a:srgbClr val="5D6A7E"/>
                </a:solidFill>
                <a:latin typeface="Aptos"/>
              </a:rPr>
              <a:t>NAVIGATION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64208" y="6441948"/>
            <a:ext cx="1298448" cy="292608"/>
          </a:xfrm>
          <a:prstGeom prst="roundRect">
            <a:avLst/>
          </a:prstGeom>
          <a:solidFill>
            <a:srgbClr val="FDEEEA"/>
          </a:solidFill>
          <a:ln w="10160"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19072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1" i="0">
                <a:solidFill>
                  <a:srgbClr val="B84325"/>
                </a:solidFill>
                <a:latin typeface="Aptos"/>
              </a:rPr>
              <a:t>1 Brief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44952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99816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2 Define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25696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3 Compare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61303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4 Confirm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87183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2047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5 Work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67928" y="6441948"/>
            <a:ext cx="1051560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2792" y="6460236"/>
            <a:ext cx="941831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6 Reflect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510528"/>
            <a:ext cx="9144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800" b="0" i="0">
                <a:solidFill>
                  <a:srgbClr val="5D6A7E"/>
                </a:solidFill>
                <a:latin typeface="Aptos"/>
              </a:rPr>
              <a:t>TaskJuvo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4630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B84325"/>
                </a:solidFill>
                <a:latin typeface="Aptos"/>
              </a:rPr>
              <a:t>TASKJUVO · WALKTHROUGH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07899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600" b="1" i="0">
                <a:solidFill>
                  <a:srgbClr val="17243B"/>
                </a:solidFill>
                <a:latin typeface="Aptos"/>
              </a:rPr>
              <a:t>Define the brief before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698480" cy="34747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50" b="0" i="0">
                <a:solidFill>
                  <a:srgbClr val="5D6A7E"/>
                </a:solidFill>
                <a:latin typeface="Aptos"/>
              </a:rPr>
              <a:t>The wizard turns a vague request into a focused, reviewable task.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05973" y="1376172"/>
            <a:ext cx="5774269" cy="4956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skJuvo-task-wi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121" y="1417320"/>
            <a:ext cx="5691973" cy="48737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02752" y="1554480"/>
            <a:ext cx="32461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13648" y="1856231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7243B"/>
                </a:solidFill>
                <a:latin typeface="Aptos"/>
              </a:rPr>
              <a:t>Recommended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3648" y="2212848"/>
            <a:ext cx="256032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5D6A7E"/>
                </a:solidFill>
                <a:latin typeface="Aptos"/>
              </a:rPr>
              <a:t>Complete the five steps, then review the summary before moving to matches.</a:t>
            </a:r>
          </a:p>
        </p:txBody>
      </p:sp>
      <p:sp>
        <p:nvSpPr>
          <p:cNvPr id="10" name="Oval 9"/>
          <p:cNvSpPr/>
          <p:nvPr/>
        </p:nvSpPr>
        <p:spPr>
          <a:xfrm>
            <a:off x="8622792" y="3127248"/>
            <a:ext cx="283464" cy="283464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22792" y="3163824"/>
            <a:ext cx="283464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B84325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118104"/>
            <a:ext cx="14630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31012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5D6A7E"/>
                </a:solidFill>
                <a:latin typeface="Aptos"/>
              </a:rPr>
              <a:t>Name the challenge</a:t>
            </a:r>
          </a:p>
        </p:txBody>
      </p:sp>
      <p:sp>
        <p:nvSpPr>
          <p:cNvPr id="14" name="Oval 13"/>
          <p:cNvSpPr/>
          <p:nvPr/>
        </p:nvSpPr>
        <p:spPr>
          <a:xfrm>
            <a:off x="8622792" y="3694176"/>
            <a:ext cx="283464" cy="283464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22792" y="3730752"/>
            <a:ext cx="283464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B84325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3685032"/>
            <a:ext cx="14630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877056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5D6A7E"/>
                </a:solidFill>
                <a:latin typeface="Aptos"/>
              </a:rPr>
              <a:t>List deliverables</a:t>
            </a:r>
          </a:p>
        </p:txBody>
      </p:sp>
      <p:sp>
        <p:nvSpPr>
          <p:cNvPr id="18" name="Oval 17"/>
          <p:cNvSpPr/>
          <p:nvPr/>
        </p:nvSpPr>
        <p:spPr>
          <a:xfrm>
            <a:off x="8622792" y="4261104"/>
            <a:ext cx="283464" cy="283464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22792" y="4297680"/>
            <a:ext cx="283464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B84325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4251960"/>
            <a:ext cx="14630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Skills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4443984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5D6A7E"/>
                </a:solidFill>
                <a:latin typeface="Aptos"/>
              </a:rPr>
              <a:t>Set the expertise</a:t>
            </a:r>
          </a:p>
        </p:txBody>
      </p:sp>
      <p:sp>
        <p:nvSpPr>
          <p:cNvPr id="22" name="Oval 21"/>
          <p:cNvSpPr/>
          <p:nvPr/>
        </p:nvSpPr>
        <p:spPr>
          <a:xfrm>
            <a:off x="8622792" y="4828032"/>
            <a:ext cx="283464" cy="283464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22792" y="4864608"/>
            <a:ext cx="283464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B84325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4818888"/>
            <a:ext cx="14630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Details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5010912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5D6A7E"/>
                </a:solidFill>
                <a:latin typeface="Aptos"/>
              </a:rPr>
              <a:t>Agree time + budget</a:t>
            </a:r>
          </a:p>
        </p:txBody>
      </p:sp>
      <p:sp>
        <p:nvSpPr>
          <p:cNvPr id="26" name="Oval 25"/>
          <p:cNvSpPr/>
          <p:nvPr/>
        </p:nvSpPr>
        <p:spPr>
          <a:xfrm>
            <a:off x="8622792" y="5394960"/>
            <a:ext cx="283464" cy="283464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22792" y="5431536"/>
            <a:ext cx="283464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B84325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385816"/>
            <a:ext cx="146304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5577840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5D6A7E"/>
                </a:solidFill>
                <a:latin typeface="Aptos"/>
              </a:rPr>
              <a:t>Check the brief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07689" y="2496423"/>
            <a:ext cx="2347938" cy="2150300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965125" y="2421320"/>
            <a:ext cx="1015859" cy="3336128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289203" y="5429370"/>
            <a:ext cx="466425" cy="229260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13648" y="5559552"/>
            <a:ext cx="246888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86800" y="5628132"/>
            <a:ext cx="210312" cy="210312"/>
          </a:xfrm>
          <a:prstGeom prst="ellipse">
            <a:avLst/>
          </a:prstGeom>
          <a:solidFill>
            <a:srgbClr val="D63025"/>
          </a:solidFill>
          <a:ln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5634532"/>
            <a:ext cx="2103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5628132"/>
            <a:ext cx="2048256" cy="2103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17243B"/>
                </a:solidFill>
                <a:latin typeface="Aptos"/>
              </a:rPr>
              <a:t>Next step keeps momentum</a:t>
            </a:r>
          </a:p>
        </p:txBody>
      </p:sp>
      <p:cxnSp>
        <p:nvCxnSpPr>
          <p:cNvPr id="37" name="Connector 36"/>
          <p:cNvCxnSpPr/>
          <p:nvPr/>
        </p:nvCxnSpPr>
        <p:spPr>
          <a:xfrm flipH="1" flipV="1">
            <a:off x="5518463" y="5547953"/>
            <a:ext cx="3095185" cy="185335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518463" y="5503191"/>
            <a:ext cx="100183" cy="44762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518463" y="5547953"/>
            <a:ext cx="94125" cy="56397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66928" y="6510528"/>
            <a:ext cx="11430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750" b="1" i="0">
                <a:solidFill>
                  <a:srgbClr val="5D6A7E"/>
                </a:solidFill>
                <a:latin typeface="Aptos"/>
              </a:rPr>
              <a:t>NAVIGATION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664208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19072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1 Brief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44952" y="6441948"/>
            <a:ext cx="1298448" cy="292608"/>
          </a:xfrm>
          <a:prstGeom prst="roundRect">
            <a:avLst/>
          </a:prstGeom>
          <a:solidFill>
            <a:srgbClr val="FDEEEA"/>
          </a:solidFill>
          <a:ln w="10160"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99816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1" i="0">
                <a:solidFill>
                  <a:srgbClr val="B84325"/>
                </a:solidFill>
                <a:latin typeface="Aptos"/>
              </a:rPr>
              <a:t>2 Define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25696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80559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3 Compare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06440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61303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4 Confirm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187183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42047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5 Work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67928" y="6441948"/>
            <a:ext cx="1051560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22792" y="6460236"/>
            <a:ext cx="941831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6 Reflect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0" y="6510528"/>
            <a:ext cx="9144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800" b="0" i="0">
                <a:solidFill>
                  <a:srgbClr val="5D6A7E"/>
                </a:solidFill>
                <a:latin typeface="Aptos"/>
              </a:rPr>
              <a:t>TaskJuvo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4630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B84325"/>
                </a:solidFill>
                <a:latin typeface="Aptos"/>
              </a:rPr>
              <a:t>TASKJUVO · WALKTHROUGH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07899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600" b="1" i="0">
                <a:solidFill>
                  <a:srgbClr val="17243B"/>
                </a:solidFill>
                <a:latin typeface="Aptos"/>
              </a:rPr>
              <a:t>Compare evidence, then open a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698480" cy="34747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50" b="0" i="0">
                <a:solidFill>
                  <a:srgbClr val="5D6A7E"/>
                </a:solidFill>
                <a:latin typeface="Aptos"/>
              </a:rPr>
              <a:t>Matches are presented side by side so the choice is explainable.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4083" y="1440180"/>
            <a:ext cx="5421816" cy="4791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skJuvo-m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231" y="1481328"/>
            <a:ext cx="5339520" cy="47091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42532" y="1440180"/>
            <a:ext cx="5129783" cy="4078223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skJuvo-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481328"/>
            <a:ext cx="5047488" cy="3995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789092" y="5634288"/>
            <a:ext cx="1205100" cy="315180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439400" y="4250436"/>
            <a:ext cx="1016507" cy="385571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" y="6254496"/>
            <a:ext cx="233172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7824" y="6323076"/>
            <a:ext cx="210312" cy="210312"/>
          </a:xfrm>
          <a:prstGeom prst="ellipse">
            <a:avLst/>
          </a:prstGeom>
          <a:solidFill>
            <a:srgbClr val="D63025"/>
          </a:solidFill>
          <a:ln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6329476"/>
            <a:ext cx="2103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6323076"/>
            <a:ext cx="1911095" cy="2103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17243B"/>
                </a:solidFill>
                <a:latin typeface="Aptos"/>
              </a:rPr>
              <a:t>Open the strongest match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400911" y="5801148"/>
            <a:ext cx="781201" cy="627084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00911" y="5801148"/>
            <a:ext cx="107619" cy="21411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00911" y="5801148"/>
            <a:ext cx="44181" cy="100440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5200" y="6254496"/>
            <a:ext cx="228600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88352" y="6323076"/>
            <a:ext cx="210312" cy="210312"/>
          </a:xfrm>
          <a:prstGeom prst="ellipse">
            <a:avLst/>
          </a:prstGeom>
          <a:solidFill>
            <a:srgbClr val="D63025"/>
          </a:solidFill>
          <a:ln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88352" y="6329476"/>
            <a:ext cx="2103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6323076"/>
            <a:ext cx="1865376" cy="2103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17243B"/>
                </a:solidFill>
                <a:latin typeface="Aptos"/>
              </a:rPr>
              <a:t>Review fit + evidence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9646920" y="4443221"/>
            <a:ext cx="1300734" cy="1985011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0936691" y="4443221"/>
            <a:ext cx="10963" cy="109179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0851928" y="4443221"/>
            <a:ext cx="95726" cy="53636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81344" y="3767328"/>
            <a:ext cx="347472" cy="0"/>
          </a:xfrm>
          <a:prstGeom prst="line">
            <a:avLst/>
          </a:prstGeom>
          <a:ln w="3048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431487" y="3767328"/>
            <a:ext cx="97329" cy="50670"/>
          </a:xfrm>
          <a:prstGeom prst="line">
            <a:avLst/>
          </a:prstGeom>
          <a:ln w="3048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6431487" y="3716657"/>
            <a:ext cx="97329" cy="50671"/>
          </a:xfrm>
          <a:prstGeom prst="line">
            <a:avLst/>
          </a:prstGeom>
          <a:ln w="3048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11430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750" b="1" i="0">
                <a:solidFill>
                  <a:srgbClr val="5D6A7E"/>
                </a:solidFill>
                <a:latin typeface="Aptos"/>
              </a:rPr>
              <a:t>NAVIGATION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64208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19072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1 Brief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44952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9816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2 Define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25696" y="6441948"/>
            <a:ext cx="1298448" cy="292608"/>
          </a:xfrm>
          <a:prstGeom prst="roundRect">
            <a:avLst/>
          </a:prstGeom>
          <a:solidFill>
            <a:srgbClr val="FDEEEA"/>
          </a:solidFill>
          <a:ln w="10160"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80559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1" i="0">
                <a:solidFill>
                  <a:srgbClr val="B84325"/>
                </a:solidFill>
                <a:latin typeface="Aptos"/>
              </a:rPr>
              <a:t>3 Compare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06440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61303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4 Confirm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87183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42047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5 Work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6441948"/>
            <a:ext cx="1051560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22792" y="6460236"/>
            <a:ext cx="941831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6 Reflect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0" y="6510528"/>
            <a:ext cx="9144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800" b="0" i="0">
                <a:solidFill>
                  <a:srgbClr val="5D6A7E"/>
                </a:solidFill>
                <a:latin typeface="Aptos"/>
              </a:rPr>
              <a:t>TaskJuvo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4630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B84325"/>
                </a:solidFill>
                <a:latin typeface="Aptos"/>
              </a:rPr>
              <a:t>TASKJUVO · WALKTHROUGH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07899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600" b="1" i="0">
                <a:solidFill>
                  <a:srgbClr val="17243B"/>
                </a:solidFill>
                <a:latin typeface="Aptos"/>
              </a:rPr>
              <a:t>Confirm a shared project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698480" cy="34747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50" b="0" i="0">
                <a:solidFill>
                  <a:srgbClr val="5D6A7E"/>
                </a:solidFill>
                <a:latin typeface="Aptos"/>
              </a:rPr>
              <a:t>The confirmation screen makes scope, budget, timing and milestones visible before commitment.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25402" y="1385316"/>
            <a:ext cx="5501171" cy="49743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skJuvo-confi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550" y="1426464"/>
            <a:ext cx="5418875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68512" y="1572768"/>
            <a:ext cx="2816352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0" y="1901952"/>
            <a:ext cx="224028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7243B"/>
                </a:solidFill>
                <a:latin typeface="Aptos"/>
              </a:rPr>
              <a:t>What to check</a:t>
            </a:r>
          </a:p>
        </p:txBody>
      </p:sp>
      <p:sp>
        <p:nvSpPr>
          <p:cNvPr id="9" name="Oval 8"/>
          <p:cNvSpPr/>
          <p:nvPr/>
        </p:nvSpPr>
        <p:spPr>
          <a:xfrm>
            <a:off x="8979408" y="2468880"/>
            <a:ext cx="274320" cy="274320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9408" y="2505456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00" b="1" i="0">
                <a:solidFill>
                  <a:srgbClr val="B84325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0032" y="2459736"/>
            <a:ext cx="17373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 i="0">
                <a:solidFill>
                  <a:srgbClr val="5D6A7E"/>
                </a:solidFill>
                <a:latin typeface="Aptos"/>
              </a:rPr>
              <a:t>Deliverables match the brief</a:t>
            </a:r>
          </a:p>
        </p:txBody>
      </p:sp>
      <p:sp>
        <p:nvSpPr>
          <p:cNvPr id="12" name="Oval 11"/>
          <p:cNvSpPr/>
          <p:nvPr/>
        </p:nvSpPr>
        <p:spPr>
          <a:xfrm>
            <a:off x="8979408" y="3127248"/>
            <a:ext cx="274320" cy="274320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79408" y="3163824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00" b="1" i="0">
                <a:solidFill>
                  <a:srgbClr val="B84325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3118104"/>
            <a:ext cx="17373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 i="0">
                <a:solidFill>
                  <a:srgbClr val="5D6A7E"/>
                </a:solidFill>
                <a:latin typeface="Aptos"/>
              </a:rPr>
              <a:t>Milestones set expectations</a:t>
            </a:r>
          </a:p>
        </p:txBody>
      </p:sp>
      <p:sp>
        <p:nvSpPr>
          <p:cNvPr id="15" name="Oval 14"/>
          <p:cNvSpPr/>
          <p:nvPr/>
        </p:nvSpPr>
        <p:spPr>
          <a:xfrm>
            <a:off x="8979408" y="3785615"/>
            <a:ext cx="274320" cy="274320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8" y="3822191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00" b="1" i="0">
                <a:solidFill>
                  <a:srgbClr val="B84325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0032" y="3776472"/>
            <a:ext cx="17373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 i="0">
                <a:solidFill>
                  <a:srgbClr val="5D6A7E"/>
                </a:solidFill>
                <a:latin typeface="Aptos"/>
              </a:rPr>
              <a:t>Budget and deadline are clear</a:t>
            </a:r>
          </a:p>
        </p:txBody>
      </p:sp>
      <p:sp>
        <p:nvSpPr>
          <p:cNvPr id="18" name="Oval 17"/>
          <p:cNvSpPr/>
          <p:nvPr/>
        </p:nvSpPr>
        <p:spPr>
          <a:xfrm>
            <a:off x="8979408" y="4443983"/>
            <a:ext cx="274320" cy="274320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9408" y="4480559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00" b="1" i="0">
                <a:solidFill>
                  <a:srgbClr val="B84325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0032" y="4434840"/>
            <a:ext cx="17373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 i="0">
                <a:solidFill>
                  <a:srgbClr val="5D6A7E"/>
                </a:solidFill>
                <a:latin typeface="Aptos"/>
              </a:rPr>
              <a:t>The guarantee is labelled as a concept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49522" y="5716406"/>
            <a:ext cx="1185378" cy="357495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61120" y="5468112"/>
            <a:ext cx="214884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34272" y="5536692"/>
            <a:ext cx="210312" cy="210312"/>
          </a:xfrm>
          <a:prstGeom prst="ellipse">
            <a:avLst/>
          </a:prstGeom>
          <a:solidFill>
            <a:srgbClr val="D63025"/>
          </a:solidFill>
          <a:ln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4272" y="5543092"/>
            <a:ext cx="2103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5536692"/>
            <a:ext cx="1728216" cy="2103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17243B"/>
                </a:solidFill>
                <a:latin typeface="Aptos"/>
              </a:rPr>
              <a:t>Confirm to open workspace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432804" y="5650992"/>
            <a:ext cx="2528316" cy="234754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432804" y="5826295"/>
            <a:ext cx="92226" cy="59451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432804" y="5885746"/>
            <a:ext cx="101595" cy="41455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0528"/>
            <a:ext cx="11430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750" b="1" i="0">
                <a:solidFill>
                  <a:srgbClr val="5D6A7E"/>
                </a:solidFill>
                <a:latin typeface="Aptos"/>
              </a:rPr>
              <a:t>NAVIGATION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64208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19072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1 Brief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44952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99816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2 Define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25696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3 Compare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6441948"/>
            <a:ext cx="1298448" cy="292608"/>
          </a:xfrm>
          <a:prstGeom prst="roundRect">
            <a:avLst/>
          </a:prstGeom>
          <a:solidFill>
            <a:srgbClr val="FDEEEA"/>
          </a:solidFill>
          <a:ln w="10160"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61303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1" i="0">
                <a:solidFill>
                  <a:srgbClr val="B84325"/>
                </a:solidFill>
                <a:latin typeface="Aptos"/>
              </a:rPr>
              <a:t>4 Confirm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87183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2047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5 Work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67928" y="6441948"/>
            <a:ext cx="1051560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2792" y="6460236"/>
            <a:ext cx="941831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6 Reflect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510528"/>
            <a:ext cx="9144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800" b="0" i="0">
                <a:solidFill>
                  <a:srgbClr val="5D6A7E"/>
                </a:solidFill>
                <a:latin typeface="Aptos"/>
              </a:rPr>
              <a:t>TaskJuvo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4630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B84325"/>
                </a:solidFill>
                <a:latin typeface="Aptos"/>
              </a:rPr>
              <a:t>TASKJUVO · WALKTHROUGH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07899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600" b="1" i="0">
                <a:solidFill>
                  <a:srgbClr val="17243B"/>
                </a:solidFill>
                <a:latin typeface="Aptos"/>
              </a:rPr>
              <a:t>Work in one shared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698480" cy="34747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50" b="0" i="0">
                <a:solidFill>
                  <a:srgbClr val="5D6A7E"/>
                </a:solidFill>
                <a:latin typeface="Aptos"/>
              </a:rPr>
              <a:t>Progress, reviews, deliverables and communication stay together after the match.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0170" y="1376172"/>
            <a:ext cx="5419066" cy="49743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skJuvo-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318" y="1417320"/>
            <a:ext cx="5336770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05088" y="1591056"/>
            <a:ext cx="27706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97696" y="1883664"/>
            <a:ext cx="21488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7243B"/>
                </a:solidFill>
                <a:latin typeface="Aptos"/>
              </a:rPr>
              <a:t>Use the workspace to…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2487168"/>
            <a:ext cx="2926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1" i="0">
                <a:solidFill>
                  <a:srgbClr val="B84325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2478024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688336"/>
            <a:ext cx="1691640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Check the current milestone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840" y="3236976"/>
            <a:ext cx="2926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1" i="0">
                <a:solidFill>
                  <a:srgbClr val="B84325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227832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Approve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438144"/>
            <a:ext cx="1691640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Move progress forward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3986784"/>
            <a:ext cx="2926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1" i="0">
                <a:solidFill>
                  <a:srgbClr val="B84325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3977640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Message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4187952"/>
            <a:ext cx="1691640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Clarify scope together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4736592"/>
            <a:ext cx="2926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1" i="0">
                <a:solidFill>
                  <a:srgbClr val="B84325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7274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Deliver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4937760"/>
            <a:ext cx="1691640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Open sample outputs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60313" y="3270365"/>
            <a:ext cx="982114" cy="500322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94183" y="3381548"/>
            <a:ext cx="1056235" cy="333548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12714" y="3826279"/>
            <a:ext cx="1000644" cy="481791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79408" y="5532120"/>
            <a:ext cx="2176272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052560" y="5600700"/>
            <a:ext cx="210312" cy="210312"/>
          </a:xfrm>
          <a:prstGeom prst="ellipse">
            <a:avLst/>
          </a:prstGeom>
          <a:solidFill>
            <a:srgbClr val="D63025"/>
          </a:solidFill>
          <a:ln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5607100"/>
            <a:ext cx="2103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5600700"/>
            <a:ext cx="1755648" cy="2103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17243B"/>
                </a:solidFill>
                <a:latin typeface="Aptos"/>
              </a:rPr>
              <a:t>Every action has context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6083323" y="3529791"/>
            <a:ext cx="2896085" cy="2185209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83323" y="3529791"/>
            <a:ext cx="108212" cy="18175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83323" y="3529791"/>
            <a:ext cx="47173" cy="99070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6928" y="6510528"/>
            <a:ext cx="11430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750" b="1" i="0">
                <a:solidFill>
                  <a:srgbClr val="5D6A7E"/>
                </a:solidFill>
                <a:latin typeface="Aptos"/>
              </a:rPr>
              <a:t>NAVIGATION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64208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9072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1 Brief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44952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99816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2 Define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25696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59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3 Compare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06440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61303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4 Confirm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87183" y="6441948"/>
            <a:ext cx="1298448" cy="292608"/>
          </a:xfrm>
          <a:prstGeom prst="roundRect">
            <a:avLst/>
          </a:prstGeom>
          <a:solidFill>
            <a:srgbClr val="FDEEEA"/>
          </a:solidFill>
          <a:ln w="10160"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42047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1" i="0">
                <a:solidFill>
                  <a:srgbClr val="B84325"/>
                </a:solidFill>
                <a:latin typeface="Aptos"/>
              </a:rPr>
              <a:t>5 Work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67928" y="6441948"/>
            <a:ext cx="1051560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2792" y="6460236"/>
            <a:ext cx="941831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6 Reflect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6510528"/>
            <a:ext cx="9144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800" b="0" i="0">
                <a:solidFill>
                  <a:srgbClr val="5D6A7E"/>
                </a:solidFill>
                <a:latin typeface="Aptos"/>
              </a:rPr>
              <a:t>TaskJuvo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14630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B84325"/>
                </a:solidFill>
                <a:latin typeface="Aptos"/>
              </a:rPr>
              <a:t>TASKJUVO · WALKTHROUGH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07899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600" b="1" i="0">
                <a:solidFill>
                  <a:srgbClr val="17243B"/>
                </a:solidFill>
                <a:latin typeface="Aptos"/>
              </a:rPr>
              <a:t>Reflect and improve the next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698480" cy="34747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50" b="0" i="0">
                <a:solidFill>
                  <a:srgbClr val="5D6A7E"/>
                </a:solidFill>
                <a:latin typeface="Aptos"/>
              </a:rPr>
              <a:t>Expert feedback closes the loop and keeps observations attached to the prototype experience.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63860" y="1394460"/>
            <a:ext cx="5624254" cy="49469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skJuvo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008" y="1435608"/>
            <a:ext cx="5541958" cy="48646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32520" y="1572768"/>
            <a:ext cx="2743200" cy="4507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25128" y="1874519"/>
            <a:ext cx="21488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7243B"/>
                </a:solidFill>
                <a:latin typeface="Aptos"/>
              </a:rPr>
              <a:t>A simple review loop</a:t>
            </a:r>
          </a:p>
        </p:txBody>
      </p:sp>
      <p:sp>
        <p:nvSpPr>
          <p:cNvPr id="9" name="Oval 8"/>
          <p:cNvSpPr/>
          <p:nvPr/>
        </p:nvSpPr>
        <p:spPr>
          <a:xfrm>
            <a:off x="9034272" y="2578608"/>
            <a:ext cx="283464" cy="283464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34272" y="2615184"/>
            <a:ext cx="283464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00" b="1" i="0">
                <a:solidFill>
                  <a:srgbClr val="B84325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569464"/>
            <a:ext cx="160020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Observe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2779776"/>
            <a:ext cx="173736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Rate clarity, evidence and next steps</a:t>
            </a:r>
          </a:p>
        </p:txBody>
      </p:sp>
      <p:sp>
        <p:nvSpPr>
          <p:cNvPr id="13" name="Oval 12"/>
          <p:cNvSpPr/>
          <p:nvPr/>
        </p:nvSpPr>
        <p:spPr>
          <a:xfrm>
            <a:off x="9034272" y="3401568"/>
            <a:ext cx="283464" cy="283464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3438144"/>
            <a:ext cx="283464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00" b="1" i="0">
                <a:solidFill>
                  <a:srgbClr val="B84325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3392424"/>
            <a:ext cx="160020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Capture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3602736"/>
            <a:ext cx="173736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Write one concrete improvement</a:t>
            </a:r>
          </a:p>
        </p:txBody>
      </p:sp>
      <p:sp>
        <p:nvSpPr>
          <p:cNvPr id="17" name="Oval 16"/>
          <p:cNvSpPr/>
          <p:nvPr/>
        </p:nvSpPr>
        <p:spPr>
          <a:xfrm>
            <a:off x="9034272" y="4224528"/>
            <a:ext cx="283464" cy="283464"/>
          </a:xfrm>
          <a:prstGeom prst="ellipse">
            <a:avLst/>
          </a:prstGeom>
          <a:solidFill>
            <a:srgbClr val="FDEEEA"/>
          </a:solidFill>
          <a:ln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4261104"/>
            <a:ext cx="283464" cy="1554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00" b="1" i="0">
                <a:solidFill>
                  <a:srgbClr val="B84325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215384"/>
            <a:ext cx="160020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1" i="0">
                <a:solidFill>
                  <a:srgbClr val="17243B"/>
                </a:solidFill>
                <a:latin typeface="Aptos"/>
              </a:rPr>
              <a:t>Download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425696"/>
            <a:ext cx="173736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0" i="0">
                <a:solidFill>
                  <a:srgbClr val="5D6A7E"/>
                </a:solidFill>
                <a:latin typeface="Aptos"/>
              </a:rPr>
              <a:t>Share a readable Markdown note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59583" y="2744125"/>
            <a:ext cx="2924922" cy="230914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859583" y="4899332"/>
            <a:ext cx="2963408" cy="527255"/>
          </a:xfrm>
          <a:prstGeom prst="roundRect">
            <a:avLst/>
          </a:prstGeom>
          <a:noFill/>
          <a:ln w="28575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25128" y="5532120"/>
            <a:ext cx="205740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98280" y="5600700"/>
            <a:ext cx="210312" cy="210312"/>
          </a:xfrm>
          <a:prstGeom prst="ellipse">
            <a:avLst/>
          </a:prstGeom>
          <a:solidFill>
            <a:srgbClr val="D63025"/>
          </a:solidFill>
          <a:ln>
            <a:solidFill>
              <a:srgbClr val="D6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5607100"/>
            <a:ext cx="2103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5600700"/>
            <a:ext cx="1636776" cy="2103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50" b="1" i="0">
                <a:solidFill>
                  <a:srgbClr val="17243B"/>
                </a:solidFill>
                <a:latin typeface="Aptos"/>
              </a:rPr>
              <a:t>Save feedback locally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4360530" y="5168732"/>
            <a:ext cx="4664598" cy="546268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360530" y="5129727"/>
            <a:ext cx="102561" cy="39005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360530" y="5168732"/>
            <a:ext cx="90774" cy="61647"/>
          </a:xfrm>
          <a:prstGeom prst="line">
            <a:avLst/>
          </a:prstGeom>
          <a:ln w="21590">
            <a:solidFill>
              <a:srgbClr val="D630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6928" y="6510528"/>
            <a:ext cx="11430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750" b="1" i="0">
                <a:solidFill>
                  <a:srgbClr val="5D6A7E"/>
                </a:solidFill>
                <a:latin typeface="Aptos"/>
              </a:rPr>
              <a:t>NAVIGATION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64208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19072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1 Brief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44952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99816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2 Define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25696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59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3 Compare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06440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61303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4 Confirm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87183" y="6441948"/>
            <a:ext cx="1298448" cy="292608"/>
          </a:xfrm>
          <a:prstGeom prst="roundRect">
            <a:avLst/>
          </a:prstGeom>
          <a:solidFill>
            <a:srgbClr val="F7F8FA"/>
          </a:solidFill>
          <a:ln w="10160">
            <a:solidFill>
              <a:srgbClr val="DD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42047" y="6460236"/>
            <a:ext cx="1188719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0" i="0">
                <a:solidFill>
                  <a:srgbClr val="5D6A7E"/>
                </a:solidFill>
                <a:latin typeface="Aptos"/>
              </a:rPr>
              <a:t>5 Work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67928" y="6441948"/>
            <a:ext cx="1051560" cy="292608"/>
          </a:xfrm>
          <a:prstGeom prst="roundRect">
            <a:avLst/>
          </a:prstGeom>
          <a:solidFill>
            <a:srgbClr val="FDEEEA"/>
          </a:solidFill>
          <a:ln w="10160">
            <a:solidFill>
              <a:srgbClr val="B84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22792" y="6460236"/>
            <a:ext cx="941831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869" b="1" i="0">
                <a:solidFill>
                  <a:srgbClr val="B84325"/>
                </a:solidFill>
                <a:latin typeface="Aptos"/>
              </a:rPr>
              <a:t>6 Reflect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6510528"/>
            <a:ext cx="91440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800" b="0" i="0">
                <a:solidFill>
                  <a:srgbClr val="5D6A7E"/>
                </a:solidFill>
                <a:latin typeface="Aptos"/>
              </a:rPr>
              <a:t>TaskJuvo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TaskJuvo prototype walkthrough</dc:title>
  <dc:subject>Annotated navigation guide for expert review</dc:subject>
  <dc:creator>TaskJuvo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