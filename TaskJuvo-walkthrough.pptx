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B84325"/>
                </a:solidFill>
                <a:latin typeface="Aptos"/>
              </a:rPr>
              <a:t>TASKJUVO ·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8138160" cy="10789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3400" b="1" i="0">
                <a:solidFill>
                  <a:srgbClr val="17243B"/>
                </a:solidFill>
                <a:latin typeface="Aptos"/>
              </a:rPr>
              <a:t>From a business need
to a shared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96312"/>
            <a:ext cx="594360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0" i="0">
                <a:solidFill>
                  <a:srgbClr val="5D6A7E"/>
                </a:solidFill>
                <a:latin typeface="Aptos"/>
              </a:rPr>
              <a:t>A visual guide to the clickable prototype and its main navigation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246120"/>
            <a:ext cx="1074420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3529584"/>
            <a:ext cx="45720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B8432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3813048"/>
            <a:ext cx="144475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078224"/>
            <a:ext cx="1444752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Start with the task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3858768"/>
            <a:ext cx="283464" cy="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609295" y="3858768"/>
            <a:ext cx="97329" cy="5067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2609295" y="3808097"/>
            <a:ext cx="97329" cy="50671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7480" y="3529584"/>
            <a:ext cx="45720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B84325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813048"/>
            <a:ext cx="144475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4078224"/>
            <a:ext cx="1444752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Make the outcome clear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78808" y="3858768"/>
            <a:ext cx="283464" cy="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364943" y="3858768"/>
            <a:ext cx="97329" cy="5067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364943" y="3808097"/>
            <a:ext cx="97329" cy="50671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53128" y="3529584"/>
            <a:ext cx="45720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B8432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813048"/>
            <a:ext cx="144475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078224"/>
            <a:ext cx="1444752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Review 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34456" y="3858768"/>
            <a:ext cx="283464" cy="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120591" y="3858768"/>
            <a:ext cx="97329" cy="5067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6120591" y="3808097"/>
            <a:ext cx="97329" cy="50671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08776" y="3529584"/>
            <a:ext cx="45720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B84325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813048"/>
            <a:ext cx="144475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4078224"/>
            <a:ext cx="1444752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Agree the plan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90104" y="3858768"/>
            <a:ext cx="283464" cy="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876239" y="3858768"/>
            <a:ext cx="97329" cy="5067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7876239" y="3808097"/>
            <a:ext cx="97329" cy="50671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64424" y="3529584"/>
            <a:ext cx="45720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B84325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4424" y="3813048"/>
            <a:ext cx="144475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4078224"/>
            <a:ext cx="1444752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Review progress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45752" y="3858768"/>
            <a:ext cx="283464" cy="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631887" y="3858768"/>
            <a:ext cx="97329" cy="50670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631887" y="3808097"/>
            <a:ext cx="97329" cy="50671"/>
          </a:xfrm>
          <a:prstGeom prst="line">
            <a:avLst/>
          </a:prstGeom>
          <a:ln w="19685">
            <a:solidFill>
              <a:srgbClr val="B843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720072" y="3529584"/>
            <a:ext cx="457200" cy="2377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00" b="1" i="0">
                <a:solidFill>
                  <a:srgbClr val="B84325"/>
                </a:solidFill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813048"/>
            <a:ext cx="1444752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Reflect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4078224"/>
            <a:ext cx="1444752" cy="26517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Improve the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6016752"/>
            <a:ext cx="539496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0" i="0">
                <a:solidFill>
                  <a:srgbClr val="5D6A7E"/>
                </a:solidFill>
                <a:latin typeface="Aptos"/>
              </a:rPr>
              <a:t>Red outlines and arrows show the recommended navigation sequence.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6016752"/>
            <a:ext cx="1234440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1100" b="1" i="0">
                <a:solidFill>
                  <a:srgbClr val="B84325"/>
                </a:solidFill>
                <a:latin typeface="Aptos"/>
              </a:rPr>
              <a:t>6-step tour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463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84325"/>
                </a:solidFill>
                <a:latin typeface="Aptos"/>
              </a:rPr>
              <a:t>TASKJUVO · WALKTHROUGH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600" b="1" i="0">
                <a:solidFill>
                  <a:srgbClr val="17243B"/>
                </a:solidFill>
                <a:latin typeface="Aptos"/>
              </a:rPr>
              <a:t>Start with a clear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0" i="0">
                <a:solidFill>
                  <a:srgbClr val="5D6A7E"/>
                </a:solidFill>
                <a:latin typeface="Aptos"/>
              </a:rPr>
              <a:t>The homepage gives the business owner two obvious ways into the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80" y="1495044"/>
            <a:ext cx="5312664" cy="349656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skJuvo-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5230368" cy="34142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41364" y="1495044"/>
            <a:ext cx="5312664" cy="456079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skJuvo-task-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5230368" cy="44785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80051" y="1590675"/>
            <a:ext cx="526668" cy="199770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6089904"/>
            <a:ext cx="224028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6158484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6164884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158484"/>
            <a:ext cx="1819656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Click the primary CTA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971800" y="1699641"/>
            <a:ext cx="2280666" cy="4563999"/>
          </a:xfrm>
          <a:prstGeom prst="line">
            <a:avLst/>
          </a:prstGeom>
          <a:ln w="2286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252466" y="1699641"/>
            <a:ext cx="1819" cy="109712"/>
          </a:xfrm>
          <a:prstGeom prst="line">
            <a:avLst/>
          </a:prstGeom>
          <a:ln w="2286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163633" y="1699641"/>
            <a:ext cx="88833" cy="64413"/>
          </a:xfrm>
          <a:prstGeom prst="line">
            <a:avLst/>
          </a:prstGeom>
          <a:ln w="2286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850118" y="2037435"/>
            <a:ext cx="617473" cy="243357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6089904"/>
            <a:ext cx="2487168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56832" y="6158484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6164884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6158484"/>
            <a:ext cx="2066544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Use the sample or brief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9079992" y="2153665"/>
            <a:ext cx="2078863" cy="4109975"/>
          </a:xfrm>
          <a:prstGeom prst="line">
            <a:avLst/>
          </a:prstGeom>
          <a:ln w="2286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58855" y="2153665"/>
            <a:ext cx="1285" cy="109721"/>
          </a:xfrm>
          <a:prstGeom prst="line">
            <a:avLst/>
          </a:prstGeom>
          <a:ln w="2286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069710" y="2153665"/>
            <a:ext cx="89145" cy="63980"/>
          </a:xfrm>
          <a:prstGeom prst="line">
            <a:avLst/>
          </a:prstGeom>
          <a:ln w="2286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70448" y="3703320"/>
            <a:ext cx="374904" cy="0"/>
          </a:xfrm>
          <a:prstGeom prst="line">
            <a:avLst/>
          </a:prstGeom>
          <a:ln w="3048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148023" y="3703320"/>
            <a:ext cx="97329" cy="50670"/>
          </a:xfrm>
          <a:prstGeom prst="line">
            <a:avLst/>
          </a:prstGeom>
          <a:ln w="3048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148023" y="3652649"/>
            <a:ext cx="97329" cy="50671"/>
          </a:xfrm>
          <a:prstGeom prst="line">
            <a:avLst/>
          </a:prstGeom>
          <a:ln w="3048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94960" y="3236976"/>
            <a:ext cx="100584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D63025"/>
                </a:solidFill>
                <a:latin typeface="Aptos"/>
              </a:rPr>
              <a:t>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50" b="1" i="0">
                <a:solidFill>
                  <a:srgbClr val="5D6A7E"/>
                </a:solidFill>
                <a:latin typeface="Aptos"/>
              </a:rPr>
              <a:t>NAVIGATION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64208" y="6441948"/>
            <a:ext cx="1298448" cy="292608"/>
          </a:xfrm>
          <a:prstGeom prst="roundRect">
            <a:avLst/>
          </a:prstGeom>
          <a:solidFill>
            <a:srgbClr val="FDEEEA"/>
          </a:solidFill>
          <a:ln w="10160"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19072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B84325"/>
                </a:solidFill>
                <a:latin typeface="Aptos"/>
              </a:rPr>
              <a:t>1 Brief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44952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9816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2 Define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3 Compare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1303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4 Confirm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87183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2047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5 Work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67928" y="6441948"/>
            <a:ext cx="1051560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2792" y="6460236"/>
            <a:ext cx="941831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6 Reflect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800" b="0" i="0">
                <a:solidFill>
                  <a:srgbClr val="5D6A7E"/>
                </a:solidFill>
                <a:latin typeface="Aptos"/>
              </a:rPr>
              <a:t>TaskJuvo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463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84325"/>
                </a:solidFill>
                <a:latin typeface="Aptos"/>
              </a:rPr>
              <a:t>TASKJUVO · WALKTHROUGH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600" b="1" i="0">
                <a:solidFill>
                  <a:srgbClr val="17243B"/>
                </a:solidFill>
                <a:latin typeface="Aptos"/>
              </a:rPr>
              <a:t>Define the brief before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0" i="0">
                <a:solidFill>
                  <a:srgbClr val="5D6A7E"/>
                </a:solidFill>
                <a:latin typeface="Aptos"/>
              </a:rPr>
              <a:t>The wizard turns a vague request into a focused, reviewable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05973" y="1376172"/>
            <a:ext cx="5774269" cy="4956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skJuvo-task-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21" y="1417320"/>
            <a:ext cx="5691973" cy="48737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02752" y="1554480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13648" y="1856231"/>
            <a:ext cx="2606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Recommended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3648" y="2212848"/>
            <a:ext cx="256032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 i="0">
                <a:solidFill>
                  <a:srgbClr val="5D6A7E"/>
                </a:solidFill>
                <a:latin typeface="Aptos"/>
              </a:rPr>
              <a:t>Complete the five steps, then review the summary before moving to matches.</a:t>
            </a:r>
          </a:p>
        </p:txBody>
      </p:sp>
      <p:sp>
        <p:nvSpPr>
          <p:cNvPr id="10" name="Oval 9"/>
          <p:cNvSpPr/>
          <p:nvPr/>
        </p:nvSpPr>
        <p:spPr>
          <a:xfrm>
            <a:off x="8622792" y="3127248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3163824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B84325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118104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310128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5D6A7E"/>
                </a:solidFill>
                <a:latin typeface="Aptos"/>
              </a:rPr>
              <a:t>Name the challenge</a:t>
            </a:r>
          </a:p>
        </p:txBody>
      </p:sp>
      <p:sp>
        <p:nvSpPr>
          <p:cNvPr id="14" name="Oval 13"/>
          <p:cNvSpPr/>
          <p:nvPr/>
        </p:nvSpPr>
        <p:spPr>
          <a:xfrm>
            <a:off x="8622792" y="3694176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3730752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B84325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685032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77056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5D6A7E"/>
                </a:solidFill>
                <a:latin typeface="Aptos"/>
              </a:rPr>
              <a:t>List deliverables</a:t>
            </a:r>
          </a:p>
        </p:txBody>
      </p:sp>
      <p:sp>
        <p:nvSpPr>
          <p:cNvPr id="18" name="Oval 17"/>
          <p:cNvSpPr/>
          <p:nvPr/>
        </p:nvSpPr>
        <p:spPr>
          <a:xfrm>
            <a:off x="8622792" y="4261104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4297680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B84325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251960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443984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5D6A7E"/>
                </a:solidFill>
                <a:latin typeface="Aptos"/>
              </a:rPr>
              <a:t>Set the expertise</a:t>
            </a:r>
          </a:p>
        </p:txBody>
      </p:sp>
      <p:sp>
        <p:nvSpPr>
          <p:cNvPr id="22" name="Oval 21"/>
          <p:cNvSpPr/>
          <p:nvPr/>
        </p:nvSpPr>
        <p:spPr>
          <a:xfrm>
            <a:off x="8622792" y="4828032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22792" y="4864608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B84325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818888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010912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5D6A7E"/>
                </a:solidFill>
                <a:latin typeface="Aptos"/>
              </a:rPr>
              <a:t>Agree time + budget</a:t>
            </a:r>
          </a:p>
        </p:txBody>
      </p:sp>
      <p:sp>
        <p:nvSpPr>
          <p:cNvPr id="26" name="Oval 25"/>
          <p:cNvSpPr/>
          <p:nvPr/>
        </p:nvSpPr>
        <p:spPr>
          <a:xfrm>
            <a:off x="8622792" y="5394960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2792" y="5431536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B84325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385816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5778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0" i="0">
                <a:solidFill>
                  <a:srgbClr val="5D6A7E"/>
                </a:solidFill>
                <a:latin typeface="Aptos"/>
              </a:rPr>
              <a:t>Check the brief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7689" y="2496423"/>
            <a:ext cx="2347938" cy="2150300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65125" y="2421320"/>
            <a:ext cx="1015859" cy="3336128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289203" y="5429370"/>
            <a:ext cx="466425" cy="229260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13648" y="5559552"/>
            <a:ext cx="246888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0" y="5628132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5634532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5628132"/>
            <a:ext cx="2048256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Next step keeps momentum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5518463" y="5547953"/>
            <a:ext cx="3095185" cy="185335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518463" y="5503191"/>
            <a:ext cx="100183" cy="44762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18463" y="5547953"/>
            <a:ext cx="94125" cy="56397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6928" y="651052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50" b="1" i="0">
                <a:solidFill>
                  <a:srgbClr val="5D6A7E"/>
                </a:solidFill>
                <a:latin typeface="Aptos"/>
              </a:rPr>
              <a:t>NAVIGATION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64208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19072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1 Brief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4952" y="6441948"/>
            <a:ext cx="1298448" cy="292608"/>
          </a:xfrm>
          <a:prstGeom prst="roundRect">
            <a:avLst/>
          </a:prstGeom>
          <a:solidFill>
            <a:srgbClr val="FDEEEA"/>
          </a:solidFill>
          <a:ln w="10160"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9816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B84325"/>
                </a:solidFill>
                <a:latin typeface="Aptos"/>
              </a:rPr>
              <a:t>2 Define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59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3 Compare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06440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61303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4 Confirm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87183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42047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5 Work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67928" y="6441948"/>
            <a:ext cx="1051560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22792" y="6460236"/>
            <a:ext cx="941831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6 Reflect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800" b="0" i="0">
                <a:solidFill>
                  <a:srgbClr val="5D6A7E"/>
                </a:solidFill>
                <a:latin typeface="Aptos"/>
              </a:rPr>
              <a:t>TaskJuvo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463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84325"/>
                </a:solidFill>
                <a:latin typeface="Aptos"/>
              </a:rPr>
              <a:t>TASKJUVO · WALKTHROUGH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600" b="1" i="0">
                <a:solidFill>
                  <a:srgbClr val="17243B"/>
                </a:solidFill>
                <a:latin typeface="Aptos"/>
              </a:rPr>
              <a:t>Compare evidence, then open a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0" i="0">
                <a:solidFill>
                  <a:srgbClr val="5D6A7E"/>
                </a:solidFill>
                <a:latin typeface="Aptos"/>
              </a:rPr>
              <a:t>Matches are presented side by side so the choice is explainable.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4083" y="1440180"/>
            <a:ext cx="5421816" cy="4791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skJuvo-m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31" y="1481328"/>
            <a:ext cx="533952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42532" y="1440180"/>
            <a:ext cx="5129783" cy="407822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skJuvo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81328"/>
            <a:ext cx="5047488" cy="3995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789092" y="5634288"/>
            <a:ext cx="1205100" cy="315180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39400" y="4250436"/>
            <a:ext cx="1016507" cy="385571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6254496"/>
            <a:ext cx="233172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6323076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6329476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6323076"/>
            <a:ext cx="1911095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Open the strongest match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400911" y="5801148"/>
            <a:ext cx="781201" cy="627084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400911" y="5801148"/>
            <a:ext cx="107619" cy="21411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400911" y="5801148"/>
            <a:ext cx="44181" cy="100440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0" y="6254496"/>
            <a:ext cx="22860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88352" y="6323076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6329476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6323076"/>
            <a:ext cx="1865376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Review fit + evidence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9646920" y="4443221"/>
            <a:ext cx="1300734" cy="1985011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936691" y="4443221"/>
            <a:ext cx="10963" cy="109179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851928" y="4443221"/>
            <a:ext cx="95726" cy="53636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81344" y="3767328"/>
            <a:ext cx="347472" cy="0"/>
          </a:xfrm>
          <a:prstGeom prst="line">
            <a:avLst/>
          </a:prstGeom>
          <a:ln w="3048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431487" y="3767328"/>
            <a:ext cx="97329" cy="50670"/>
          </a:xfrm>
          <a:prstGeom prst="line">
            <a:avLst/>
          </a:prstGeom>
          <a:ln w="3048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431487" y="3716657"/>
            <a:ext cx="97329" cy="50671"/>
          </a:xfrm>
          <a:prstGeom prst="line">
            <a:avLst/>
          </a:prstGeom>
          <a:ln w="3048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" y="651052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50" b="1" i="0">
                <a:solidFill>
                  <a:srgbClr val="5D6A7E"/>
                </a:solidFill>
                <a:latin typeface="Aptos"/>
              </a:rPr>
              <a:t>NAVIGATION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64208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19072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1 Brief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4952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6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2 Define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25696" y="6441948"/>
            <a:ext cx="1298448" cy="292608"/>
          </a:xfrm>
          <a:prstGeom prst="roundRect">
            <a:avLst/>
          </a:prstGeom>
          <a:solidFill>
            <a:srgbClr val="FDEEEA"/>
          </a:solidFill>
          <a:ln w="10160"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B84325"/>
                </a:solidFill>
                <a:latin typeface="Aptos"/>
              </a:rPr>
              <a:t>3 Compare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06440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1303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4 Confirm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87183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2047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5 Work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67928" y="6441948"/>
            <a:ext cx="1051560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6460236"/>
            <a:ext cx="941831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6 Reflect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800" b="0" i="0">
                <a:solidFill>
                  <a:srgbClr val="5D6A7E"/>
                </a:solidFill>
                <a:latin typeface="Aptos"/>
              </a:rPr>
              <a:t>TaskJuvo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463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84325"/>
                </a:solidFill>
                <a:latin typeface="Aptos"/>
              </a:rPr>
              <a:t>TASKJUVO · WALKTHROUGH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600" b="1" i="0">
                <a:solidFill>
                  <a:srgbClr val="17243B"/>
                </a:solidFill>
                <a:latin typeface="Aptos"/>
              </a:rPr>
              <a:t>Confirm a shared 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0" i="0">
                <a:solidFill>
                  <a:srgbClr val="5D6A7E"/>
                </a:solidFill>
                <a:latin typeface="Aptos"/>
              </a:rPr>
              <a:t>The confirmation screen makes scope, budget, timing and milestones visible before commitment.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25402" y="1385316"/>
            <a:ext cx="5501171" cy="4974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skJuvo-confi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50" y="1426464"/>
            <a:ext cx="5418875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68512" y="1572768"/>
            <a:ext cx="281635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901952"/>
            <a:ext cx="224028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What to check</a:t>
            </a:r>
          </a:p>
        </p:txBody>
      </p:sp>
      <p:sp>
        <p:nvSpPr>
          <p:cNvPr id="9" name="Oval 8"/>
          <p:cNvSpPr/>
          <p:nvPr/>
        </p:nvSpPr>
        <p:spPr>
          <a:xfrm>
            <a:off x="8979408" y="2468880"/>
            <a:ext cx="274320" cy="274320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2505456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84325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00032" y="2459736"/>
            <a:ext cx="17373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5D6A7E"/>
                </a:solidFill>
                <a:latin typeface="Aptos"/>
              </a:rPr>
              <a:t>Deliverables match the brief</a:t>
            </a:r>
          </a:p>
        </p:txBody>
      </p:sp>
      <p:sp>
        <p:nvSpPr>
          <p:cNvPr id="12" name="Oval 11"/>
          <p:cNvSpPr/>
          <p:nvPr/>
        </p:nvSpPr>
        <p:spPr>
          <a:xfrm>
            <a:off x="8979408" y="3127248"/>
            <a:ext cx="274320" cy="274320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3163824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84325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3118104"/>
            <a:ext cx="17373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5D6A7E"/>
                </a:solidFill>
                <a:latin typeface="Aptos"/>
              </a:rPr>
              <a:t>Milestones set expectations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979408" y="3785615"/>
            <a:ext cx="274320" cy="274320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79408" y="3822191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84325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3776472"/>
            <a:ext cx="17373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5D6A7E"/>
                </a:solidFill>
                <a:latin typeface="Aptos"/>
              </a:rPr>
              <a:t>Budget and deadline are clear</a:t>
            </a:r>
          </a:p>
        </p:txBody>
      </p:sp>
      <p:sp>
        <p:nvSpPr>
          <p:cNvPr id="18" name="Oval 17"/>
          <p:cNvSpPr/>
          <p:nvPr/>
        </p:nvSpPr>
        <p:spPr>
          <a:xfrm>
            <a:off x="8979408" y="4443983"/>
            <a:ext cx="274320" cy="274320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4480559"/>
            <a:ext cx="274320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84325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4434840"/>
            <a:ext cx="17373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050" b="0" i="0">
                <a:solidFill>
                  <a:srgbClr val="5D6A7E"/>
                </a:solidFill>
                <a:latin typeface="Aptos"/>
              </a:rPr>
              <a:t>The guarantee is labelled as a concept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9522" y="5716406"/>
            <a:ext cx="1185378" cy="357495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0" y="5468112"/>
            <a:ext cx="214884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34272" y="5536692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5543092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5536692"/>
            <a:ext cx="1728216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Confirm to open workspace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6432804" y="5650992"/>
            <a:ext cx="2528316" cy="234754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432804" y="5826295"/>
            <a:ext cx="92226" cy="59451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32804" y="5885746"/>
            <a:ext cx="101595" cy="41455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052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50" b="1" i="0">
                <a:solidFill>
                  <a:srgbClr val="5D6A7E"/>
                </a:solidFill>
                <a:latin typeface="Aptos"/>
              </a:rPr>
              <a:t>NAVIGATION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64208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19072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1 Brief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44952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9816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2 Define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25696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9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3 Compare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6441948"/>
            <a:ext cx="1298448" cy="292608"/>
          </a:xfrm>
          <a:prstGeom prst="roundRect">
            <a:avLst/>
          </a:prstGeom>
          <a:solidFill>
            <a:srgbClr val="FDEEEA"/>
          </a:solidFill>
          <a:ln w="10160"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1303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B84325"/>
                </a:solidFill>
                <a:latin typeface="Aptos"/>
              </a:rPr>
              <a:t>4 Confirm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87183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2047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5 Work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67928" y="6441948"/>
            <a:ext cx="1051560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22792" y="6460236"/>
            <a:ext cx="941831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6 Reflect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800" b="0" i="0">
                <a:solidFill>
                  <a:srgbClr val="5D6A7E"/>
                </a:solidFill>
                <a:latin typeface="Aptos"/>
              </a:rPr>
              <a:t>TaskJuvo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463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84325"/>
                </a:solidFill>
                <a:latin typeface="Aptos"/>
              </a:rPr>
              <a:t>TASKJUVO · WALKTHROUGH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600" b="1" i="0">
                <a:solidFill>
                  <a:srgbClr val="17243B"/>
                </a:solidFill>
                <a:latin typeface="Aptos"/>
              </a:rPr>
              <a:t>Work in one shared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0" i="0">
                <a:solidFill>
                  <a:srgbClr val="5D6A7E"/>
                </a:solidFill>
                <a:latin typeface="Aptos"/>
              </a:rPr>
              <a:t>Progress, reviews, deliverables and communication stay together after the match.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0170" y="1376172"/>
            <a:ext cx="5419066" cy="49743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skJuvo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318" y="1417320"/>
            <a:ext cx="5336770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05088" y="1591056"/>
            <a:ext cx="277063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97696" y="1883664"/>
            <a:ext cx="21488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Use the workspace to…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487168"/>
            <a:ext cx="29260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B84325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478024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688336"/>
            <a:ext cx="16916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Check the current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3236976"/>
            <a:ext cx="29260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B84325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227832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438144"/>
            <a:ext cx="16916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Move progress 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986784"/>
            <a:ext cx="29260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B84325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977640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187952"/>
            <a:ext cx="16916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Clarify scope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736592"/>
            <a:ext cx="292608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00" b="1" i="0">
                <a:solidFill>
                  <a:srgbClr val="B84325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727448"/>
            <a:ext cx="164592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937760"/>
            <a:ext cx="169164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Open sample 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0313" y="3270365"/>
            <a:ext cx="982114" cy="500322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94183" y="3381548"/>
            <a:ext cx="1056235" cy="333548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2714" y="3826279"/>
            <a:ext cx="1000644" cy="481791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9408" y="5532120"/>
            <a:ext cx="2176272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052560" y="5600700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607100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600700"/>
            <a:ext cx="1755648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Every action has context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083323" y="3529791"/>
            <a:ext cx="2896085" cy="2185209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3323" y="3529791"/>
            <a:ext cx="108212" cy="18175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3323" y="3529791"/>
            <a:ext cx="47173" cy="99070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1052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50" b="1" i="0">
                <a:solidFill>
                  <a:srgbClr val="5D6A7E"/>
                </a:solidFill>
                <a:latin typeface="Aptos"/>
              </a:rPr>
              <a:t>NAVIGATION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64208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19072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1 Brief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4952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9816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2 Define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5696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59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3 Compare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06440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61303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4 Confirm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87183" y="6441948"/>
            <a:ext cx="1298448" cy="292608"/>
          </a:xfrm>
          <a:prstGeom prst="roundRect">
            <a:avLst/>
          </a:prstGeom>
          <a:solidFill>
            <a:srgbClr val="FDEEEA"/>
          </a:solidFill>
          <a:ln w="10160"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42047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B84325"/>
                </a:solidFill>
                <a:latin typeface="Aptos"/>
              </a:rPr>
              <a:t>5 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67928" y="6441948"/>
            <a:ext cx="1051560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2792" y="6460236"/>
            <a:ext cx="941831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6 Reflect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800" b="0" i="0">
                <a:solidFill>
                  <a:srgbClr val="5D6A7E"/>
                </a:solidFill>
                <a:latin typeface="Aptos"/>
              </a:rPr>
              <a:t>TaskJuvo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4630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B84325"/>
                </a:solidFill>
                <a:latin typeface="Aptos"/>
              </a:rPr>
              <a:t>TASKJUVO · WALKTHROUGH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7899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600" b="1" i="0">
                <a:solidFill>
                  <a:srgbClr val="17243B"/>
                </a:solidFill>
                <a:latin typeface="Aptos"/>
              </a:rPr>
              <a:t>Reflect and improve the next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05840"/>
            <a:ext cx="106984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50" b="0" i="0">
                <a:solidFill>
                  <a:srgbClr val="5D6A7E"/>
                </a:solidFill>
                <a:latin typeface="Aptos"/>
              </a:rPr>
              <a:t>Expert feedback closes the loop and keeps observations attached to the prototype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63860" y="1394460"/>
            <a:ext cx="5624254" cy="49469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skJuvo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008" y="1435608"/>
            <a:ext cx="5541958" cy="48646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572768"/>
            <a:ext cx="2743200" cy="4507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25128" y="1874519"/>
            <a:ext cx="2148840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17243B"/>
                </a:solidFill>
                <a:latin typeface="Aptos"/>
              </a:rPr>
              <a:t>A simple review loop</a:t>
            </a:r>
          </a:p>
        </p:txBody>
      </p:sp>
      <p:sp>
        <p:nvSpPr>
          <p:cNvPr id="9" name="Oval 8"/>
          <p:cNvSpPr/>
          <p:nvPr/>
        </p:nvSpPr>
        <p:spPr>
          <a:xfrm>
            <a:off x="9034272" y="2578608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34272" y="2615184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84325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569464"/>
            <a:ext cx="160020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779776"/>
            <a:ext cx="173736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Rate clarity, evidence and next steps</a:t>
            </a:r>
          </a:p>
        </p:txBody>
      </p:sp>
      <p:sp>
        <p:nvSpPr>
          <p:cNvPr id="13" name="Oval 12"/>
          <p:cNvSpPr/>
          <p:nvPr/>
        </p:nvSpPr>
        <p:spPr>
          <a:xfrm>
            <a:off x="9034272" y="3401568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3438144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84325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392424"/>
            <a:ext cx="160020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602736"/>
            <a:ext cx="173736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Write one concrete improvement</a:t>
            </a:r>
          </a:p>
        </p:txBody>
      </p:sp>
      <p:sp>
        <p:nvSpPr>
          <p:cNvPr id="17" name="Oval 16"/>
          <p:cNvSpPr/>
          <p:nvPr/>
        </p:nvSpPr>
        <p:spPr>
          <a:xfrm>
            <a:off x="9034272" y="4224528"/>
            <a:ext cx="283464" cy="283464"/>
          </a:xfrm>
          <a:prstGeom prst="ellipse">
            <a:avLst/>
          </a:prstGeom>
          <a:solidFill>
            <a:srgbClr val="FDEEEA"/>
          </a:solidFill>
          <a:ln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4261104"/>
            <a:ext cx="283464" cy="1554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00" b="1" i="0">
                <a:solidFill>
                  <a:srgbClr val="B84325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215384"/>
            <a:ext cx="1600200" cy="2011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100" b="1" i="0">
                <a:solidFill>
                  <a:srgbClr val="17243B"/>
                </a:solidFill>
                <a:latin typeface="Aptos"/>
              </a:rPr>
              <a:t>Download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425696"/>
            <a:ext cx="173736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0" i="0">
                <a:solidFill>
                  <a:srgbClr val="5D6A7E"/>
                </a:solidFill>
                <a:latin typeface="Aptos"/>
              </a:rPr>
              <a:t>Share a readable Markdown note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59583" y="2744125"/>
            <a:ext cx="2924922" cy="230914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59583" y="4899332"/>
            <a:ext cx="2963408" cy="527255"/>
          </a:xfrm>
          <a:prstGeom prst="roundRect">
            <a:avLst/>
          </a:prstGeom>
          <a:noFill/>
          <a:ln w="28575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5128" y="5532120"/>
            <a:ext cx="2057400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98280" y="5600700"/>
            <a:ext cx="210312" cy="210312"/>
          </a:xfrm>
          <a:prstGeom prst="ellipse">
            <a:avLst/>
          </a:prstGeom>
          <a:solidFill>
            <a:srgbClr val="D63025"/>
          </a:solidFill>
          <a:ln>
            <a:solidFill>
              <a:srgbClr val="D6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5607100"/>
            <a:ext cx="210312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5600700"/>
            <a:ext cx="1636776" cy="2103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950" b="1" i="0">
                <a:solidFill>
                  <a:srgbClr val="17243B"/>
                </a:solidFill>
                <a:latin typeface="Aptos"/>
              </a:rPr>
              <a:t>Save feedback locally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4360530" y="5168732"/>
            <a:ext cx="4664598" cy="546268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60530" y="5129727"/>
            <a:ext cx="102561" cy="39005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60530" y="5168732"/>
            <a:ext cx="90774" cy="61647"/>
          </a:xfrm>
          <a:prstGeom prst="line">
            <a:avLst/>
          </a:prstGeom>
          <a:ln w="21590">
            <a:solidFill>
              <a:srgbClr val="D630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510528"/>
            <a:ext cx="11430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750" b="1" i="0">
                <a:solidFill>
                  <a:srgbClr val="5D6A7E"/>
                </a:solidFill>
                <a:latin typeface="Aptos"/>
              </a:rPr>
              <a:t>NAVIGATION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64208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19072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1 Brief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44952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9816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2 Define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25696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59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3 Compare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61303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4 Confirm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87183" y="6441948"/>
            <a:ext cx="1298448" cy="2926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DD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2047" y="6460236"/>
            <a:ext cx="1188719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0" i="0">
                <a:solidFill>
                  <a:srgbClr val="5D6A7E"/>
                </a:solidFill>
                <a:latin typeface="Aptos"/>
              </a:rPr>
              <a:t>5 Work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67928" y="6441948"/>
            <a:ext cx="1051560" cy="292608"/>
          </a:xfrm>
          <a:prstGeom prst="roundRect">
            <a:avLst/>
          </a:prstGeom>
          <a:solidFill>
            <a:srgbClr val="FDEEEA"/>
          </a:solidFill>
          <a:ln w="10160">
            <a:solidFill>
              <a:srgbClr val="B843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22792" y="6460236"/>
            <a:ext cx="941831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/>
            <a:r>
              <a:rPr sz="869" b="1" i="0">
                <a:solidFill>
                  <a:srgbClr val="B84325"/>
                </a:solidFill>
                <a:latin typeface="Aptos"/>
              </a:rPr>
              <a:t>6 Reflect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6510528"/>
            <a:ext cx="914400" cy="1645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/>
            <a:r>
              <a:rPr sz="800" b="0" i="0">
                <a:solidFill>
                  <a:srgbClr val="5D6A7E"/>
                </a:solidFill>
                <a:latin typeface="Aptos"/>
              </a:rPr>
              <a:t>TaskJuvo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TaskJuvo prototype walkthrough</dc:title>
  <dc:subject>Annotated navigation guide for expert review</dc:subject>
  <dc:creator>ChatGPT</dc:creator>
  <cp:keywords/>
  <dc:description>generated using python-pptx</dc:description>
  <cp:lastModifiedBy>ChatGPT</cp:lastModifiedBy>
  <cp:revision>1</cp:revision>
  <dcterms:created xsi:type="dcterms:W3CDTF">2013-01-27T09:14:16Z</dcterms:created>
  <dcterms:modified xsi:type="dcterms:W3CDTF">2013-01-27T09:15:58Z</dcterms:modified>
  <cp:category/>
</cp:coreProperties>
</file>